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4"/>
    <p:sldMasterId id="2147483672" r:id="rId5"/>
    <p:sldMasterId id="2147483697" r:id="rId6"/>
  </p:sldMasterIdLst>
  <p:notesMasterIdLst>
    <p:notesMasterId r:id="rId16"/>
  </p:notesMasterIdLst>
  <p:handoutMasterIdLst>
    <p:handoutMasterId r:id="rId17"/>
  </p:handoutMasterIdLst>
  <p:sldIdLst>
    <p:sldId id="256" r:id="rId7"/>
    <p:sldId id="263" r:id="rId8"/>
    <p:sldId id="264" r:id="rId9"/>
    <p:sldId id="265" r:id="rId10"/>
    <p:sldId id="259" r:id="rId11"/>
    <p:sldId id="266" r:id="rId12"/>
    <p:sldId id="257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d Hasselquist (HDa)" initials="FH(" lastIdx="1" clrIdx="0">
    <p:extLst>
      <p:ext uri="{19B8F6BF-5375-455C-9EA6-DF929625EA0E}">
        <p15:presenceInfo xmlns:p15="http://schemas.microsoft.com/office/powerpoint/2012/main" userId="S::fhe@du.se::9fb0fe49-10b5-42ef-aef8-66b49f762ef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00"/>
    <a:srgbClr val="CE0060"/>
    <a:srgbClr val="341C65"/>
    <a:srgbClr val="4B2582"/>
    <a:srgbClr val="4A2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67491-6849-4C1F-B669-7ECA214FC461}" v="684" dt="2026-01-13T13:11:50.533"/>
    <p1510:client id="{B7A9612D-4E5D-79DD-C2C4-69E6E45A2525}" v="47" dt="2026-01-13T10:30:43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80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96752" y="413468"/>
            <a:ext cx="2615979" cy="2476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ECBB8-93AA-FA41-A054-EC9AB38F47E2}" type="datetimeFigureOut">
              <a:rPr lang="en-US" sz="1000" smtClean="0"/>
              <a:t>1/13/2026</a:t>
            </a:fld>
            <a:endParaRPr lang="sv-SE" sz="100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1C883BD-B9DF-4058-B8CF-4B4FE80C3C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709" y="209552"/>
            <a:ext cx="1562431" cy="495295"/>
          </a:xfrm>
          <a:prstGeom prst="rect">
            <a:avLst/>
          </a:prstGeom>
        </p:spPr>
      </p:pic>
      <p:sp>
        <p:nvSpPr>
          <p:cNvPr id="12" name="Platshållare för sidfot 11">
            <a:extLst>
              <a:ext uri="{FF2B5EF4-FFF2-40B4-BE49-F238E27FC236}">
                <a16:creationId xmlns:a16="http://schemas.microsoft.com/office/drawing/2014/main" id="{CC1EFC61-F8FA-4E87-AA9D-484BBD58E1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57200" y="844230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v-SE" sz="1000"/>
              <a:t>© Högskolan Dalarna 	</a:t>
            </a:r>
          </a:p>
        </p:txBody>
      </p:sp>
      <p:sp>
        <p:nvSpPr>
          <p:cNvPr id="13" name="Platshållare för bildnummer 12">
            <a:extLst>
              <a:ext uri="{FF2B5EF4-FFF2-40B4-BE49-F238E27FC236}">
                <a16:creationId xmlns:a16="http://schemas.microsoft.com/office/drawing/2014/main" id="{CC2BB7DA-C860-4897-A1B5-F8387CAFB0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440931" y="844230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1DF77-84AF-42BB-B24D-D58989A766F1}" type="slidenum">
              <a:rPr lang="sv-SE" sz="1000" smtClean="0"/>
              <a:t>‹#›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18458253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BD41841-4AB6-4B7F-943E-3760686E5F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96752" y="413468"/>
            <a:ext cx="2615979" cy="2476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ECBB8-93AA-FA41-A054-EC9AB38F47E2}" type="datetimeFigureOut">
              <a:rPr lang="en-US" sz="1000" smtClean="0"/>
              <a:t>1/13/2026</a:t>
            </a:fld>
            <a:endParaRPr lang="sv-SE" sz="100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98D241A4-5859-4392-866F-D0DEFD38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9" y="209552"/>
            <a:ext cx="1562431" cy="495295"/>
          </a:xfrm>
          <a:prstGeom prst="rect">
            <a:avLst/>
          </a:prstGeom>
        </p:spPr>
      </p:pic>
      <p:sp>
        <p:nvSpPr>
          <p:cNvPr id="10" name="Platshållare för sidfot 11">
            <a:extLst>
              <a:ext uri="{FF2B5EF4-FFF2-40B4-BE49-F238E27FC236}">
                <a16:creationId xmlns:a16="http://schemas.microsoft.com/office/drawing/2014/main" id="{E6ED88F8-9698-4305-B7AA-EFCA568208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457200" y="844230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v-SE" sz="1000"/>
              <a:t>© Högskolan Dalarna 	</a:t>
            </a:r>
          </a:p>
        </p:txBody>
      </p:sp>
      <p:sp>
        <p:nvSpPr>
          <p:cNvPr id="11" name="Platshållare för bildnummer 12">
            <a:extLst>
              <a:ext uri="{FF2B5EF4-FFF2-40B4-BE49-F238E27FC236}">
                <a16:creationId xmlns:a16="http://schemas.microsoft.com/office/drawing/2014/main" id="{56AF3104-1F42-425D-880E-39B59ADE9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440931" y="844230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1DF77-84AF-42BB-B24D-D58989A766F1}" type="slidenum">
              <a:rPr lang="sv-SE" sz="1000" smtClean="0"/>
              <a:t>‹#›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18597506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användaren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knappar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dynamiskt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laddas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(30–40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serverdelen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hanterar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Node.js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tillsammans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Express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skapa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API.”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API:t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förfrågningar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frontend, till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exempel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POST, PUT och DELETE.”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datalagring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SQLite.”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alla poster och 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ansvarar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läsa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uppdatera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ta bort data.”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Frontend, backend och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separerade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kommunicerar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varandra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API-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anrop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1DF77-84AF-42BB-B24D-D58989A766F1}" type="slidenum">
              <a:rPr lang="sv-SE" sz="1000" smtClean="0"/>
              <a:t>5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4072411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40FEB-F6A9-A7E7-B938-CC8CA991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18417F8A-48A0-B40C-2EE6-C82EFFF30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208E19DA-5A2E-7E68-500E-C1246A6C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användaren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knappar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dynamiskt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laddas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(30–40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serverdelen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hanterar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Node.js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tillsammans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Express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skapa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API.”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API:t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förfrågningar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frontend, till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exempel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POST, PUT och DELETE.”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datalagring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SQLite.”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alla poster och 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ansvarar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läsa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uppdatera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ta bort data.”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Frontend, backend och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separerade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kommunicerar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varandra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API-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anrop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A1238E36-A8A4-9FD7-6AE3-D9F04CB3C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1DF77-84AF-42BB-B24D-D58989A766F1}" type="slidenum">
              <a:rPr lang="sv-SE" sz="1000" smtClean="0"/>
              <a:t>6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2790844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roligaste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projektet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frontend och backend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ihop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började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jobba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riktig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CRUD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såg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sparades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blev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tydligt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hänger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ihop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utmanande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fetch och API-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anropen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Särskilt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uppdatera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ta bort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rätt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data,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eftersom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måste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skicka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rätt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hantera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API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fungerar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praktiken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också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klienten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samarbetar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viktig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lärdom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strukturerar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webbprojekt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tydlig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uppdelning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mellan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 och backend.”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Sammanfattningsvis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projektet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bättre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förståelse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för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dynamiska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webbapplikationer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byggs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1DF77-84AF-42BB-B24D-D58989A766F1}" type="slidenum">
              <a:rPr lang="sv-SE" sz="1000" smtClean="0"/>
              <a:t>8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4085672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529968"/>
            <a:ext cx="9001125" cy="55739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165225"/>
            <a:ext cx="9001125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C289252-3F0D-4734-8DC3-F7C5BE14F6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3368" y="2263502"/>
            <a:ext cx="9001124" cy="35054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853EA4C1-86D7-48E2-8731-A2CA21E54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719211BB-FA25-4248-9DD2-82F331A6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C88B5C8D-6BCC-41D9-929B-809EE31AD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853C89B3-21D8-4415-B262-82D495B9C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5537D54-DA30-44EF-84CB-F92BBC7F4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8" y="1520826"/>
            <a:ext cx="9006688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A9D9A2C5-D908-46E8-BE7D-52D26F557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8" name="Platshållare för sidfot 4">
            <a:extLst>
              <a:ext uri="{FF2B5EF4-FFF2-40B4-BE49-F238E27FC236}">
                <a16:creationId xmlns:a16="http://schemas.microsoft.com/office/drawing/2014/main" id="{CBF0FD68-E40A-479A-BB97-59254D1C9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D707D619-29D4-4F9D-B430-C6AE8130E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70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vudrubri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445312"/>
            <a:ext cx="9001126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AC8CE27-6713-424C-8ADE-774BF1B230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7" y="1520825"/>
            <a:ext cx="9001126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9AA2A56-11F5-4373-81B1-65B085839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8350B45B-76AB-4496-943E-37EF06A86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64F1C2A4-9BBD-4351-842D-E6F9A066D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313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763363"/>
            <a:ext cx="9001126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2BEFC230-7013-4E75-BA87-2ECE3B427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7" y="1864728"/>
            <a:ext cx="9001126" cy="39042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40003B68-3286-4446-B873-6DFBA7027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B3B03CAC-C32D-486A-A42F-49766A921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3CE78B0A-FE15-4399-9DE6-0769B029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10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5018021-7530-4DA5-A360-6A6040EDF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7696" y="542260"/>
            <a:ext cx="5578617" cy="54676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1" name="Platshållare för rubrik 1">
            <a:extLst>
              <a:ext uri="{FF2B5EF4-FFF2-40B4-BE49-F238E27FC236}">
                <a16:creationId xmlns:a16="http://schemas.microsoft.com/office/drawing/2014/main" id="{50ADCE81-D8BD-4397-B6D9-56713E91D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696" y="1165865"/>
            <a:ext cx="5578617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BEAF3689-8A0E-452E-BD8A-EA7C716DF0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8699" y="2263502"/>
            <a:ext cx="5743017" cy="35962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4917017" cy="633348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32A70E0-A9F1-4CB5-B0C4-06DBA243F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667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D2BE9A93-2A75-48FE-9808-8C79AF073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4119BC75-3270-4C49-B4DC-2CB4F1F2B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CD0099C3-00DD-46C1-82BA-E02DAD6EB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F7DC3862-EBAE-453B-A27E-B81DA94950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695" y="542260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3762E24-B82F-4180-863E-40AF0A9D1B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7224" y="1520826"/>
            <a:ext cx="5744491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232" y="3"/>
            <a:ext cx="4921249" cy="632840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84D67DB7-55AB-4322-83CC-5F83B98271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667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A70D00E8-01BE-462E-B520-D6BE71579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9C8E7279-32A4-4081-A5F3-BFC489F36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DDD66C7E-4FFB-4B52-82AA-CBA097CF6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013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9" y="597976"/>
            <a:ext cx="9001124" cy="49121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303714"/>
            <a:ext cx="9001124" cy="7559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960766-C981-4BDC-8E0F-E297B6D08E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861" y="2258281"/>
            <a:ext cx="4479389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1B3B9A5-B180-421A-B983-55BE4F63D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727" y="2696947"/>
            <a:ext cx="4585405" cy="31482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A6ED114-18DF-4C5D-A13D-26DB364DFC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79695" y="2254270"/>
            <a:ext cx="4616868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D9D026D-646E-4AE9-AAB5-183866ADA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1159" y="2696946"/>
            <a:ext cx="4585405" cy="31482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FF05E634-4DAF-4AFD-B5D2-5DC73D4BE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98127ADE-9C99-411C-9C94-CF79B32C5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83C7D731-5C49-4009-8DED-5C7B0D06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713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5018021-7530-4DA5-A360-6A6040EDF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5687" y="541056"/>
            <a:ext cx="5563772" cy="546766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1" name="Platshållare för rubrik 1">
            <a:extLst>
              <a:ext uri="{FF2B5EF4-FFF2-40B4-BE49-F238E27FC236}">
                <a16:creationId xmlns:a16="http://schemas.microsoft.com/office/drawing/2014/main" id="{50ADCE81-D8BD-4397-B6D9-56713E91D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215259"/>
            <a:ext cx="5563771" cy="9428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640D188-FA4A-4363-A624-4981761BDE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5445" y="2263501"/>
            <a:ext cx="5524014" cy="35904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2923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9D09DFC6-FCCF-40CD-91C8-BDD6A48679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B6E11A6C-FDC1-4966-A4B3-43B345DD5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DE97754E-E0E2-4160-9917-E45688DB5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65370CDA-9133-434D-958E-898938F96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0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0D08DF0-36D6-4EF6-8850-B15CB458D7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88017B0-2C92-4D98-8355-ACFDB69AD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6" y="1520826"/>
            <a:ext cx="5550939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094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46E01C1-96FA-4281-9DB9-BD8AA54836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FC8F2930-09F4-41DC-AE41-C0060E024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A9848A47-C493-4B74-8AED-33F5C11A9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56AEA612-40A0-4EAF-9BA6-FC3F156E0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554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B430ED1-9925-4DB5-9CDD-5FD97EEF5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3" name="Platshållare för tabell 2">
            <a:extLst>
              <a:ext uri="{FF2B5EF4-FFF2-40B4-BE49-F238E27FC236}">
                <a16:creationId xmlns:a16="http://schemas.microsoft.com/office/drawing/2014/main" id="{F8259EC0-03AE-4BC6-98ED-B0C9588A61A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089360" y="1520825"/>
            <a:ext cx="9501188" cy="424935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600"/>
            </a:lvl1pPr>
          </a:lstStyle>
          <a:p>
            <a:r>
              <a:rPr lang="sv-SE"/>
              <a:t>Klicka på ikonen för att lägga till en tabell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F5AC232F-6B51-4BCC-A47C-6588CA00F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D83EA865-03CD-4B59-BB82-B2E85EF36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955D49D8-2033-4FF5-8DE8-F2CF1B5D5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986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B430ED1-9925-4DB5-9CDD-5FD97EEF5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B9CDC1D-46A9-4525-90FA-225636AE233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9025" y="1520825"/>
            <a:ext cx="9507538" cy="424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sv-SE"/>
              <a:t>Klicka på en ikon för att infoga innehåll</a:t>
            </a:r>
          </a:p>
        </p:txBody>
      </p:sp>
      <p:sp>
        <p:nvSpPr>
          <p:cNvPr id="7" name="Platshållare för text 11">
            <a:extLst>
              <a:ext uri="{FF2B5EF4-FFF2-40B4-BE49-F238E27FC236}">
                <a16:creationId xmlns:a16="http://schemas.microsoft.com/office/drawing/2014/main" id="{A2431A35-0296-4B68-8A6D-4156581743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9025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B04B7C00-3049-4D49-9064-264C938EB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9" name="Platshållare för sidfot 4">
            <a:extLst>
              <a:ext uri="{FF2B5EF4-FFF2-40B4-BE49-F238E27FC236}">
                <a16:creationId xmlns:a16="http://schemas.microsoft.com/office/drawing/2014/main" id="{DE550717-E9E9-4868-BD49-0B8F4C012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50489398-E4EC-4DFA-8FF0-27655CC9D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2865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A26ACB75-FFAD-434A-AC2E-94CB7F860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5E697336-EFA3-469A-AB45-9009A8B16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3" name="Platshållare för bildnummer 5">
            <a:extLst>
              <a:ext uri="{FF2B5EF4-FFF2-40B4-BE49-F238E27FC236}">
                <a16:creationId xmlns:a16="http://schemas.microsoft.com/office/drawing/2014/main" id="{AE424039-02B9-4719-B252-124AD1CEE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7719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>
            <a:extLst>
              <a:ext uri="{FF2B5EF4-FFF2-40B4-BE49-F238E27FC236}">
                <a16:creationId xmlns:a16="http://schemas.microsoft.com/office/drawing/2014/main" id="{B586BC6E-FD26-40CB-AE21-FC3349F1C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-50801" y="-50800"/>
            <a:ext cx="12242799" cy="6908800"/>
          </a:xfrm>
          <a:prstGeom prst="rect">
            <a:avLst/>
          </a:prstGeom>
        </p:spPr>
      </p:pic>
      <p:pic>
        <p:nvPicPr>
          <p:cNvPr id="3" name="Picture 15" descr="Högskolan Dalarna logotyp">
            <a:extLst>
              <a:ext uri="{FF2B5EF4-FFF2-40B4-BE49-F238E27FC236}">
                <a16:creationId xmlns:a16="http://schemas.microsoft.com/office/drawing/2014/main" id="{54C6E929-CAB5-4978-BED6-391886C0AB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073F16A0-84FF-42CC-8F59-E615FAB37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7661" y="411308"/>
            <a:ext cx="7729423" cy="491357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Föreläsning Datum Kod Benämning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1861" y="4469896"/>
            <a:ext cx="8415223" cy="1143045"/>
          </a:xfrm>
          <a:prstGeom prst="rect">
            <a:avLst/>
          </a:prstGeom>
        </p:spPr>
        <p:txBody>
          <a:bodyPr anchor="b" anchorCtr="0"/>
          <a:lstStyle>
            <a:lvl1pPr algn="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/>
              <a:t>Titel på presentationen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1862" y="5775650"/>
            <a:ext cx="8415224" cy="257401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Namn </a:t>
            </a:r>
            <a:r>
              <a:rPr lang="sv-SE" err="1"/>
              <a:t>Namnsson</a:t>
            </a:r>
            <a:r>
              <a:rPr lang="sv-SE"/>
              <a:t>, din titel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976514E-A48F-459A-9910-E818492606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0801" y="1245059"/>
            <a:ext cx="12242801" cy="2919436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21211197-22C2-487C-808B-6829BCCC81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30" y="4234698"/>
            <a:ext cx="4722478" cy="229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4253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Innehållsförteck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A82ED3C4-17BC-43B6-B922-20790B11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9BBA0C1A-542B-469A-AE0A-7ACD9AF3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9" y="1089025"/>
            <a:ext cx="5360948" cy="1030962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sv-SE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5" y="2228760"/>
            <a:ext cx="5360947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Char char="•"/>
              <a:defRPr sz="16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 Nivå 2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B11CA43-E867-4053-A228-DB91F471C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0"/>
            <a:ext cx="4917017" cy="68580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text 11">
            <a:extLst>
              <a:ext uri="{FF2B5EF4-FFF2-40B4-BE49-F238E27FC236}">
                <a16:creationId xmlns:a16="http://schemas.microsoft.com/office/drawing/2014/main" id="{CD9ABB33-73CE-449A-824C-7EE2B01A49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2843" y="6021386"/>
            <a:ext cx="5372100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60894633-4897-4C38-B5E1-DD39DFD69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5" name="Platshållare för sidfot 4">
            <a:extLst>
              <a:ext uri="{FF2B5EF4-FFF2-40B4-BE49-F238E27FC236}">
                <a16:creationId xmlns:a16="http://schemas.microsoft.com/office/drawing/2014/main" id="{9754DD30-C97D-4470-9A0A-F3B6B61E9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59C10E4F-5C41-4783-9391-6164F5C5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35858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Innehållsförteckning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089025"/>
            <a:ext cx="5360947" cy="1030962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sv-SE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5" y="2228760"/>
            <a:ext cx="5360947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Char char="•"/>
              <a:defRPr sz="1600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 Nivå 2</a:t>
            </a:r>
          </a:p>
          <a:p>
            <a:pPr lvl="0"/>
            <a:endParaRPr lang="sv-SE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B11CA43-E867-4053-A228-DB91F471C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1152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4" name="Rektangel 8">
            <a:extLst>
              <a:ext uri="{FF2B5EF4-FFF2-40B4-BE49-F238E27FC236}">
                <a16:creationId xmlns:a16="http://schemas.microsoft.com/office/drawing/2014/main" id="{75DE9293-C009-4846-B59E-4871D6A8A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15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2D654718-1398-43C1-8FCA-468A7BE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  <p:sp>
        <p:nvSpPr>
          <p:cNvPr id="8" name="Platshållare för text 11">
            <a:extLst>
              <a:ext uri="{FF2B5EF4-FFF2-40B4-BE49-F238E27FC236}">
                <a16:creationId xmlns:a16="http://schemas.microsoft.com/office/drawing/2014/main" id="{1ED71AFC-BB52-411A-9A7F-E9D1434E03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2842" y="6021386"/>
            <a:ext cx="5372100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5" name="Platshållare för datum 3">
            <a:extLst>
              <a:ext uri="{FF2B5EF4-FFF2-40B4-BE49-F238E27FC236}">
                <a16:creationId xmlns:a16="http://schemas.microsoft.com/office/drawing/2014/main" id="{0FE8B823-F42B-4B2A-97AC-DCF00AE19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7" name="Platshållare för sidfot 4">
            <a:extLst>
              <a:ext uri="{FF2B5EF4-FFF2-40B4-BE49-F238E27FC236}">
                <a16:creationId xmlns:a16="http://schemas.microsoft.com/office/drawing/2014/main" id="{A5860A82-D2C0-44E5-8F2A-A84C4E8A6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8" name="Platshållare för bildnummer 5">
            <a:extLst>
              <a:ext uri="{FF2B5EF4-FFF2-40B4-BE49-F238E27FC236}">
                <a16:creationId xmlns:a16="http://schemas.microsoft.com/office/drawing/2014/main" id="{E7EAA475-100D-4538-8535-E389B9C70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064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2DF072-952E-4E77-B991-150C9900C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17017" y="1269281"/>
            <a:ext cx="7274983" cy="4319437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 b="1">
              <a:ln>
                <a:noFill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09DCF4A-8636-4501-91D7-07EBBD2AF1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4514" y="2208084"/>
            <a:ext cx="5522774" cy="321671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13244-5CE2-4D7F-A2A6-0D758D3CBE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513" y="2714896"/>
            <a:ext cx="5522775" cy="1325563"/>
          </a:xfrm>
          <a:prstGeom prst="rect">
            <a:avLst/>
          </a:prstGeom>
        </p:spPr>
        <p:txBody>
          <a:bodyPr anchor="ctr" anchorCtr="0"/>
          <a:lstStyle>
            <a:lvl1pPr algn="ct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A657175-9DCE-4E30-811C-CC129EC7B6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269281"/>
            <a:ext cx="4917017" cy="4319437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3439C059-CDAA-4887-B677-06A3D7883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085" y="1457847"/>
            <a:ext cx="1532879" cy="485927"/>
          </a:xfrm>
          <a:prstGeom prst="rect">
            <a:avLst/>
          </a:prstGeom>
        </p:spPr>
      </p:pic>
      <p:sp>
        <p:nvSpPr>
          <p:cNvPr id="9" name="Platshållare för text 11">
            <a:extLst>
              <a:ext uri="{FF2B5EF4-FFF2-40B4-BE49-F238E27FC236}">
                <a16:creationId xmlns:a16="http://schemas.microsoft.com/office/drawing/2014/main" id="{52DDB6A8-5C6E-4373-805D-661873B0C9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230" y="5660440"/>
            <a:ext cx="4722478" cy="229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59B1C48D-D187-4AAC-98DD-06A19A699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3" name="Platshållare för sidfot 4">
            <a:extLst>
              <a:ext uri="{FF2B5EF4-FFF2-40B4-BE49-F238E27FC236}">
                <a16:creationId xmlns:a16="http://schemas.microsoft.com/office/drawing/2014/main" id="{4B24B195-C53B-4457-806D-07954724B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01F58CCF-6110-4359-A44F-EF14090F6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4311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B4654F-8A8E-4C8F-9D2F-913DC9CB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68413"/>
            <a:ext cx="12192000" cy="2304263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9667ADF-311C-4439-BF93-6FAE493F93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5756" y="1703357"/>
            <a:ext cx="8325293" cy="314848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641AC99-DD7E-46E1-87C4-A66F5CA3D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5757" y="2133208"/>
            <a:ext cx="8325293" cy="96949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0BE3CB-9385-44C2-8E89-D42CB70B83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022" y="3572677"/>
            <a:ext cx="3914275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7CC9D02-08F9-4424-A975-F411A1AE6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54905" y="3572677"/>
            <a:ext cx="3898232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DA8EE72-474A-41E7-B1DD-1458B81EEF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1789" y="3572677"/>
            <a:ext cx="3890211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E1A83726-3799-43D9-ABAD-B193663C2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085" y="1457847"/>
            <a:ext cx="1532879" cy="485927"/>
          </a:xfrm>
          <a:prstGeom prst="rect">
            <a:avLst/>
          </a:prstGeom>
        </p:spPr>
      </p:pic>
      <p:sp>
        <p:nvSpPr>
          <p:cNvPr id="10" name="Platshållare för text 11">
            <a:extLst>
              <a:ext uri="{FF2B5EF4-FFF2-40B4-BE49-F238E27FC236}">
                <a16:creationId xmlns:a16="http://schemas.microsoft.com/office/drawing/2014/main" id="{78D56C13-7D21-4184-A608-7A0284D46A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229" y="5660441"/>
            <a:ext cx="6076033" cy="622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3" name="Platshållare för datum 3">
            <a:extLst>
              <a:ext uri="{FF2B5EF4-FFF2-40B4-BE49-F238E27FC236}">
                <a16:creationId xmlns:a16="http://schemas.microsoft.com/office/drawing/2014/main" id="{DDE126C0-3E43-4B20-A95F-CDC59181F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4" name="Platshållare för sidfot 4">
            <a:extLst>
              <a:ext uri="{FF2B5EF4-FFF2-40B4-BE49-F238E27FC236}">
                <a16:creationId xmlns:a16="http://schemas.microsoft.com/office/drawing/2014/main" id="{5BCFD270-04BA-40FA-9025-C832FA353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9" name="Platshållare för bildnummer 5">
            <a:extLst>
              <a:ext uri="{FF2B5EF4-FFF2-40B4-BE49-F238E27FC236}">
                <a16:creationId xmlns:a16="http://schemas.microsoft.com/office/drawing/2014/main" id="{079E0596-C1A0-43FD-B5FD-78B7829F7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4758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al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A5853ECF-14E2-41D5-95E6-3A8D18023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18169"/>
            <a:ext cx="12192000" cy="3221665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>
              <a:ln>
                <a:noFill/>
              </a:ln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BD3416-929A-49C9-89E3-0BC6E77135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7293" y="2722820"/>
            <a:ext cx="9356651" cy="38188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641AC99-DD7E-46E1-87C4-A66F5CA3D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7293" y="3302845"/>
            <a:ext cx="9356651" cy="952114"/>
          </a:xfrm>
          <a:prstGeom prst="rect">
            <a:avLst/>
          </a:prstGeom>
        </p:spPr>
        <p:txBody>
          <a:bodyPr anchor="t" anchorCtr="0"/>
          <a:lstStyle>
            <a:lvl1pPr algn="ctr"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729DBF3C-ACE6-43F8-9F17-B494BE25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2038753"/>
            <a:ext cx="1532879" cy="485927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CA9FF669-B500-42D4-9856-6671EA60F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4" name="Platshållare för sidfot 4">
            <a:extLst>
              <a:ext uri="{FF2B5EF4-FFF2-40B4-BE49-F238E27FC236}">
                <a16:creationId xmlns:a16="http://schemas.microsoft.com/office/drawing/2014/main" id="{43615219-7C1B-4F74-813C-0ACFE5BB0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5" name="Platshållare för bildnummer 5">
            <a:extLst>
              <a:ext uri="{FF2B5EF4-FFF2-40B4-BE49-F238E27FC236}">
                <a16:creationId xmlns:a16="http://schemas.microsoft.com/office/drawing/2014/main" id="{70E327EB-170B-41D3-9A11-4A8609A65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2494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a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02EDFB6-A7C5-4127-9F54-5A1B9DFD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73D648AA-6D51-444B-864B-2015CBB6D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5AC7B83-6516-4E30-947B-C3C66F114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034809"/>
            <a:ext cx="10115895" cy="1143045"/>
          </a:xfrm>
          <a:prstGeom prst="rect">
            <a:avLst/>
          </a:prstGeom>
        </p:spPr>
        <p:txBody>
          <a:bodyPr anchor="b" anchorCtr="0"/>
          <a:lstStyle>
            <a:lvl1pPr algn="ct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/>
              <a:t>Tack för uppmärksamheten!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7C41A051-4524-4B17-9336-39698D8F8E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4723" y="5009321"/>
            <a:ext cx="7374834" cy="759653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Namn, organisation, telefonnummer, e-postadress, webbadress etc.</a:t>
            </a:r>
          </a:p>
        </p:txBody>
      </p:sp>
    </p:spTree>
    <p:extLst>
      <p:ext uri="{BB962C8B-B14F-4D97-AF65-F5344CB8AC3E}">
        <p14:creationId xmlns:p14="http://schemas.microsoft.com/office/powerpoint/2010/main" val="793478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02EDFB6-A7C5-4127-9F54-5A1B9DFD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ildobjekt 4" descr="Högskolan Dalarna logotyp">
            <a:extLst>
              <a:ext uri="{FF2B5EF4-FFF2-40B4-BE49-F238E27FC236}">
                <a16:creationId xmlns:a16="http://schemas.microsoft.com/office/drawing/2014/main" id="{A3C39C15-9725-4030-AB96-36EDF0C4EE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7511" y="2264119"/>
            <a:ext cx="2196977" cy="232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36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C5AB38-20CB-F9C9-B9E9-3055C75F5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98BADDC-3093-89BD-9026-C6037A365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57DB28-60E9-5B56-E7FA-40993780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32C5B65-8FC1-09F2-793A-C0B7889F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4FB3DF-9069-98C1-E3E2-9A58DA9F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4370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EDD015-8483-FEDD-142D-5CA90A6C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816FF77-AC61-5E6A-106B-709C483F1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5E3978D-8B4A-BDAC-766B-FC08357F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3F2187-BC5A-98D0-8AFF-174008B2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DCCC794-2A28-5E0A-87A7-1C1CE4C1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8152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E458043-1AE0-09BA-A484-A358D788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F44400D-DBF9-019C-7961-62710A53B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53D6CD-7C46-29C2-E69C-34E0F8F1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D90B2C-FD8B-F0F9-8959-0CFC215E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9F9D517-260F-61F8-9FDC-88B552E8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036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F00402-CB55-4FC9-F7FA-E82B23D3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3CCFD81-B8F3-A7E0-5703-FC762B22A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DD9F1EA-6FDA-A7EC-464E-285B71763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454B2B6-12C3-C02A-0245-0114006E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81B7A54-D812-199A-DED1-1C6945D5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73C71A2-9CBC-462A-6449-6230CD3D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3017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DD283EE-CA19-4FF4-3BEC-6EC66F54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F2BF44E-4A95-AEF2-351F-5B6A5B78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2341A35-C279-6B8E-673A-D76357EA8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12B159B-6CD0-2C9B-EADE-42C99F802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BD43416-DDCD-E792-7AC6-F8DD738B2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52EB7322-5592-F6DD-7839-F0C1A645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8EF9A2C8-8D18-352B-9FA9-D7F0A0A3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36E5B7F9-4423-606F-E7A4-B346FFF8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4338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0155CE-EA7E-A530-2C04-FA242817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98BC9A0-BE87-7A7C-BAB6-BC007AC1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0585B4D-E6BC-2FAE-7ED1-97C530AC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5E66C21-5069-AE44-2E3B-808F275F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3277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A0661388-1E25-DF5C-4B6E-5CFA1C4C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57EE3ED-B44A-7A60-83A3-6151914A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FFE0234-0DC7-F747-0E85-F5AFA6AE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3684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0F69D6-1746-524D-4854-A78D9362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25B507-3793-18AF-693F-8B5AFE9F1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A63CDED-399C-97F3-8AD4-8FA3BFE1E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0842B48-9CA8-8647-572B-D35A49D6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49082AF-E9C9-187E-913F-7921EE29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E3D277A-0282-0345-8E13-C9A35E43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0637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7B2020-FFD2-65AC-5AE5-A389E170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416BB00-8AEF-B651-E779-9D3C4648F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D352C3D-D75E-31E8-BEAA-A219BF102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3D58BEF-1C05-8719-59B7-333BB994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4CF1437-3950-BAC4-D0DE-22C6E43C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243FAF7-703B-0B18-8B5E-DB236BE8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5838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77E3B0-7F57-D98B-8736-F12B8CFB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8BC4018-BB52-9201-8977-CE4BDE352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DB9540-8C7D-7B08-A8EF-90700DCE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64DB9F6-C0E1-8D30-EB8D-011C7FEF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A068B14-E406-AA25-3733-A408EAEF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870929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96DF5783-CC8C-81C5-FEB1-187ADD97A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CDE2D03-1DC4-FCE3-ADB1-4B42A5F0F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50FD5DD-C1CD-4457-83AB-B5423E54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4EDB4B6-004F-CBC4-508E-8E4632C9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2AB7432-D378-2F09-F370-D41BEDAC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886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Överrubrik, 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529968"/>
            <a:ext cx="9001125" cy="55739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165225"/>
            <a:ext cx="9001125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C289252-3F0D-4734-8DC3-F7C5BE14F6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3368" y="2263502"/>
            <a:ext cx="9001124" cy="35054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853EA4C1-86D7-48E2-8731-A2CA21E54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719211BB-FA25-4248-9DD2-82F331A6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C88B5C8D-6BCC-41D9-929B-809EE31AD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10837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Över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0D08DF0-36D6-4EF6-8850-B15CB458D7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88017B0-2C92-4D98-8355-ACFDB69AD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6" y="1520826"/>
            <a:ext cx="5550939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094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46E01C1-96FA-4281-9DB9-BD8AA54836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FC8F2930-09F4-41DC-AE41-C0060E024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A9848A47-C493-4B74-8AED-33F5C11A9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56AEA612-40A0-4EAF-9BA6-FC3F156E0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76478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9" y="597976"/>
            <a:ext cx="9001124" cy="49121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303714"/>
            <a:ext cx="9001124" cy="7559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960766-C981-4BDC-8E0F-E297B6D08E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861" y="2258281"/>
            <a:ext cx="4479389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1B3B9A5-B180-421A-B983-55BE4F63D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727" y="2696947"/>
            <a:ext cx="4585405" cy="31482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A6ED114-18DF-4C5D-A13D-26DB364DFC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79695" y="2254270"/>
            <a:ext cx="4616868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D9D026D-646E-4AE9-AAB5-183866ADA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1159" y="2696946"/>
            <a:ext cx="4585405" cy="31482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FF05E634-4DAF-4AFD-B5D2-5DC73D4BE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98127ADE-9C99-411C-9C94-CF79B32C5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83C7D731-5C49-4009-8DED-5C7B0D06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4128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8">
            <a:extLst>
              <a:ext uri="{FF2B5EF4-FFF2-40B4-BE49-F238E27FC236}">
                <a16:creationId xmlns:a16="http://schemas.microsoft.com/office/drawing/2014/main" id="{9D17F9DA-8D24-42DC-9F65-98D0B90D9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97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11715DBE-5E44-4BEA-9DD2-C438566EA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6B6582-C1C6-4774-AF6B-F68D13F42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443EE36-0CB1-4FF9-B1E7-80617464E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D1BB3C0-74A1-4A5A-8792-201FE7981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188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4" r:id="rId2"/>
    <p:sldLayoutId id="2147483693" r:id="rId3"/>
    <p:sldLayoutId id="2147483692" r:id="rId4"/>
    <p:sldLayoutId id="2147483667" r:id="rId5"/>
    <p:sldLayoutId id="2147483683" r:id="rId6"/>
    <p:sldLayoutId id="2147483690" r:id="rId7"/>
    <p:sldLayoutId id="2147483681" r:id="rId8"/>
    <p:sldLayoutId id="2147483687" r:id="rId9"/>
    <p:sldLayoutId id="2147483677" r:id="rId10"/>
    <p:sldLayoutId id="2147483696" r:id="rId11"/>
    <p:sldLayoutId id="214748369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8" userDrawn="1">
          <p15:clr>
            <a:srgbClr val="F26B43"/>
          </p15:clr>
        </p15:guide>
        <p15:guide id="2" pos="665" userDrawn="1">
          <p15:clr>
            <a:srgbClr val="F26B43"/>
          </p15:clr>
        </p15:guide>
        <p15:guide id="3" pos="6675" userDrawn="1">
          <p15:clr>
            <a:srgbClr val="F26B43"/>
          </p15:clr>
        </p15:guide>
        <p15:guide id="4" orient="horz" pos="3634" userDrawn="1">
          <p15:clr>
            <a:srgbClr val="F26B43"/>
          </p15:clr>
        </p15:guide>
        <p15:guide id="5" orient="horz" pos="1480" userDrawn="1">
          <p15:clr>
            <a:srgbClr val="F26B43"/>
          </p15:clr>
        </p15:guide>
        <p15:guide id="6" pos="6335" userDrawn="1">
          <p15:clr>
            <a:srgbClr val="F26B43"/>
          </p15:clr>
        </p15:guide>
        <p15:guide id="7" pos="7015" userDrawn="1">
          <p15:clr>
            <a:srgbClr val="F26B43"/>
          </p15:clr>
        </p15:guide>
        <p15:guide id="8" orient="horz" pos="504" userDrawn="1">
          <p15:clr>
            <a:srgbClr val="F26B43"/>
          </p15:clr>
        </p15:guide>
        <p15:guide id="9" pos="35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0" r:id="rId3"/>
    <p:sldLayoutId id="2147483671" r:id="rId4"/>
    <p:sldLayoutId id="2147483668" r:id="rId5"/>
    <p:sldLayoutId id="2147483679" r:id="rId6"/>
    <p:sldLayoutId id="2147483694" r:id="rId7"/>
    <p:sldLayoutId id="214748367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 userDrawn="1">
          <p15:clr>
            <a:srgbClr val="F26B43"/>
          </p15:clr>
        </p15:guide>
        <p15:guide id="2" pos="665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  <p15:guide id="4" orient="horz" pos="3634" userDrawn="1">
          <p15:clr>
            <a:srgbClr val="F26B43"/>
          </p15:clr>
        </p15:guide>
        <p15:guide id="5" pos="717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F64A29FF-4717-00F0-556B-FC3FAC21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986D21A-F8A1-7F02-9F9C-C7D0BC04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C2F20F-6A60-E276-31FB-7A3BC7EF7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2026-01-13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3009CE-F99C-B4EC-9322-26800F43A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495B71-0F9D-556D-B523-3847ECB3D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Rektangel 8">
            <a:extLst>
              <a:ext uri="{FF2B5EF4-FFF2-40B4-BE49-F238E27FC236}">
                <a16:creationId xmlns:a16="http://schemas.microsoft.com/office/drawing/2014/main" id="{D8B91E75-43DC-1BE5-B91F-C3E0D1671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97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08EF093B-E884-F985-C5C7-A5D668279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5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8">
          <p15:clr>
            <a:srgbClr val="F26B43"/>
          </p15:clr>
        </p15:guide>
        <p15:guide id="2" pos="665">
          <p15:clr>
            <a:srgbClr val="F26B43"/>
          </p15:clr>
        </p15:guide>
        <p15:guide id="3" pos="6675">
          <p15:clr>
            <a:srgbClr val="F26B43"/>
          </p15:clr>
        </p15:guide>
        <p15:guide id="4" orient="horz" pos="3634">
          <p15:clr>
            <a:srgbClr val="F26B43"/>
          </p15:clr>
        </p15:guide>
        <p15:guide id="5" orient="horz" pos="1480">
          <p15:clr>
            <a:srgbClr val="F26B43"/>
          </p15:clr>
        </p15:guide>
        <p15:guide id="6" pos="6335">
          <p15:clr>
            <a:srgbClr val="F26B43"/>
          </p15:clr>
        </p15:guide>
        <p15:guide id="7" pos="7015">
          <p15:clr>
            <a:srgbClr val="F26B43"/>
          </p15:clr>
        </p15:guide>
        <p15:guide id="8" orient="horz" pos="504">
          <p15:clr>
            <a:srgbClr val="F26B43"/>
          </p15:clr>
        </p15:guide>
        <p15:guide id="9" pos="35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C090948C-7811-97C0-9489-DDE6EC6E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22" y="58556"/>
            <a:ext cx="10515600" cy="2852737"/>
          </a:xfrm>
        </p:spPr>
        <p:txBody>
          <a:bodyPr anchor="b">
            <a:normAutofit/>
          </a:bodyPr>
          <a:lstStyle/>
          <a:p>
            <a:pPr algn="ctr"/>
            <a:r>
              <a:rPr lang="en-US" b="0" dirty="0"/>
              <a:t> </a:t>
            </a:r>
            <a:r>
              <a:rPr lang="en-US" b="0" dirty="0" err="1"/>
              <a:t>Dynamiska</a:t>
            </a:r>
            <a:r>
              <a:rPr lang="en-US" b="0" dirty="0"/>
              <a:t> </a:t>
            </a:r>
            <a:r>
              <a:rPr lang="en-US" b="0" dirty="0" err="1"/>
              <a:t>Webbapplikationer</a:t>
            </a:r>
            <a:r>
              <a:rPr lang="en-US" b="0" dirty="0"/>
              <a:t>                     GIK339</a:t>
            </a: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6666DD5-2238-8C77-9016-8A9654922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528" y="3661906"/>
            <a:ext cx="10722272" cy="2140258"/>
          </a:xfrm>
        </p:spPr>
        <p:txBody>
          <a:bodyPr lIns="91440" tIns="45720" rIns="91440" bIns="45720">
            <a:normAutofit fontScale="92500" lnSpcReduction="10000"/>
          </a:bodyPr>
          <a:lstStyle/>
          <a:p>
            <a:pPr marL="0" indent="0">
              <a:buNone/>
            </a:pPr>
            <a:r>
              <a:rPr lang="sv-SE" sz="2200" dirty="0"/>
              <a:t>Projektarbete: CRUD med en resurs</a:t>
            </a:r>
          </a:p>
          <a:p>
            <a:pPr marL="0" indent="0">
              <a:buNone/>
            </a:pPr>
            <a:r>
              <a:rPr lang="sv-SE" sz="2200" dirty="0"/>
              <a:t>Gruppnummer: 35​</a:t>
            </a:r>
            <a:br>
              <a:rPr lang="sv-SE" sz="2200" dirty="0"/>
            </a:br>
            <a:r>
              <a:rPr lang="sv-SE" sz="2200" dirty="0"/>
              <a:t>Medlemmar:​ </a:t>
            </a:r>
            <a:r>
              <a:rPr lang="sv-SE" sz="2200" dirty="0" err="1"/>
              <a:t>Hangama</a:t>
            </a:r>
            <a:r>
              <a:rPr lang="sv-SE" sz="2200" dirty="0"/>
              <a:t> </a:t>
            </a:r>
            <a:r>
              <a:rPr lang="sv-SE" sz="2200" dirty="0" err="1"/>
              <a:t>Dehati</a:t>
            </a:r>
            <a:r>
              <a:rPr lang="sv-SE" sz="2200" dirty="0"/>
              <a:t> , Samir Ahmad</a:t>
            </a:r>
          </a:p>
          <a:p>
            <a:pPr marL="0" indent="0">
              <a:buNone/>
            </a:pPr>
            <a:r>
              <a:rPr lang="sv-SE" sz="2200" dirty="0"/>
              <a:t>Kursperiod: Höst 2025</a:t>
            </a:r>
          </a:p>
          <a:p>
            <a:pPr marL="0" indent="0">
              <a:buNone/>
            </a:pPr>
            <a:r>
              <a:rPr lang="sv-SE" sz="2200" dirty="0"/>
              <a:t>Reovisningsdatum: 2026-01-15</a:t>
            </a:r>
          </a:p>
          <a:p>
            <a:r>
              <a:rPr lang="sv-SE" dirty="0"/>
              <a:t>Examinator: Mikaela Hedberg</a:t>
            </a:r>
            <a:endParaRPr lang="sv-SE" sz="2200" dirty="0"/>
          </a:p>
          <a:p>
            <a:pPr marL="0" indent="0">
              <a:buNone/>
            </a:pPr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val="181294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37B48CE-C954-F25B-034B-C06E4E0A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/>
              <a:t>Projektbeskrivning</a:t>
            </a:r>
            <a:r>
              <a:rPr lang="sv-SE" dirty="0"/>
              <a:t>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C3A40CD-AAE0-6EB1-67FB-3EAA56345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Utveckling av en </a:t>
            </a:r>
            <a:r>
              <a:rPr lang="sv-SE" b="1" dirty="0"/>
              <a:t>webbaserad CRUD-applikation</a:t>
            </a:r>
            <a:r>
              <a:rPr lang="sv-SE" dirty="0"/>
              <a:t> för en valfri resurs</a:t>
            </a:r>
          </a:p>
          <a:p>
            <a:r>
              <a:rPr lang="sv-SE" dirty="0"/>
              <a:t>Applikationen byggs som en </a:t>
            </a:r>
            <a:r>
              <a:rPr lang="sv-SE" b="1" dirty="0" err="1"/>
              <a:t>Single</a:t>
            </a:r>
            <a:r>
              <a:rPr lang="sv-SE" b="1" dirty="0"/>
              <a:t> Page </a:t>
            </a:r>
            <a:r>
              <a:rPr lang="sv-SE" b="1" dirty="0" err="1"/>
              <a:t>Application</a:t>
            </a:r>
            <a:r>
              <a:rPr lang="sv-SE" dirty="0"/>
              <a:t> med en HTML-sida</a:t>
            </a:r>
          </a:p>
          <a:p>
            <a:r>
              <a:rPr lang="sv-SE" b="1" dirty="0" err="1"/>
              <a:t>Backend</a:t>
            </a:r>
            <a:r>
              <a:rPr lang="sv-SE" b="1" dirty="0"/>
              <a:t>:</a:t>
            </a:r>
            <a:r>
              <a:rPr lang="sv-SE" dirty="0"/>
              <a:t> Node.js och Express med ett REST-API</a:t>
            </a:r>
          </a:p>
          <a:p>
            <a:r>
              <a:rPr lang="sv-SE" b="1" dirty="0"/>
              <a:t>Databas:</a:t>
            </a:r>
            <a:r>
              <a:rPr lang="sv-SE" dirty="0"/>
              <a:t> </a:t>
            </a:r>
            <a:r>
              <a:rPr lang="sv-SE" dirty="0" err="1"/>
              <a:t>SQLite</a:t>
            </a:r>
            <a:r>
              <a:rPr lang="sv-SE" dirty="0"/>
              <a:t> för lagring av data</a:t>
            </a:r>
          </a:p>
          <a:p>
            <a:r>
              <a:rPr lang="sv-SE" b="1" dirty="0" err="1"/>
              <a:t>Frontend</a:t>
            </a:r>
            <a:r>
              <a:rPr lang="sv-SE" b="1" dirty="0"/>
              <a:t>:</a:t>
            </a:r>
            <a:r>
              <a:rPr lang="sv-SE" dirty="0"/>
              <a:t> </a:t>
            </a:r>
            <a:r>
              <a:rPr lang="sv-SE" dirty="0" err="1"/>
              <a:t>Vanilla</a:t>
            </a:r>
            <a:r>
              <a:rPr lang="sv-SE" dirty="0"/>
              <a:t> JavaScript med </a:t>
            </a:r>
            <a:r>
              <a:rPr lang="sv-SE" dirty="0" err="1"/>
              <a:t>fetch</a:t>
            </a:r>
            <a:r>
              <a:rPr lang="sv-SE" dirty="0"/>
              <a:t> för API-anrop</a:t>
            </a:r>
          </a:p>
          <a:p>
            <a:r>
              <a:rPr lang="sv-SE" dirty="0"/>
              <a:t>Dynamisk lista och formulär för </a:t>
            </a:r>
            <a:r>
              <a:rPr lang="sv-SE" b="1" dirty="0"/>
              <a:t>skapa, visa, uppdatera och ta bort</a:t>
            </a:r>
            <a:r>
              <a:rPr lang="sv-SE" dirty="0"/>
              <a:t> data</a:t>
            </a:r>
          </a:p>
          <a:p>
            <a:r>
              <a:rPr lang="sv-SE" b="1" dirty="0" err="1"/>
              <a:t>Responsivt</a:t>
            </a:r>
            <a:r>
              <a:rPr lang="sv-SE" b="1" dirty="0"/>
              <a:t> gränssnitt</a:t>
            </a:r>
            <a:r>
              <a:rPr lang="sv-SE" dirty="0"/>
              <a:t> med CSS-ramverk</a:t>
            </a:r>
          </a:p>
          <a:p>
            <a:r>
              <a:rPr lang="sv-SE" dirty="0"/>
              <a:t>Användaren får </a:t>
            </a:r>
            <a:r>
              <a:rPr lang="sv-SE" b="1" dirty="0"/>
              <a:t>feedback via meddelanderutor</a:t>
            </a:r>
            <a:r>
              <a:rPr lang="sv-SE" dirty="0"/>
              <a:t> vid förändringar</a:t>
            </a:r>
          </a:p>
          <a:p>
            <a:endParaRPr lang="sv-SE" dirty="0"/>
          </a:p>
        </p:txBody>
      </p:sp>
      <p:pic>
        <p:nvPicPr>
          <p:cNvPr id="16" name="Bildobjekt 15" descr="En bild som visar text, skärmbild, Teckensnitt, dokument&#10;&#10;AI-genererat innehåll kan vara felaktigt.">
            <a:extLst>
              <a:ext uri="{FF2B5EF4-FFF2-40B4-BE49-F238E27FC236}">
                <a16:creationId xmlns:a16="http://schemas.microsoft.com/office/drawing/2014/main" id="{3DD88F6B-9A1D-525C-2888-B62F5F97D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02" y="0"/>
            <a:ext cx="5785985" cy="631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33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37B48CE-C954-F25B-034B-C06E4E0A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/>
              <a:t>Tolkning av CRUD med en resurs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C3A40CD-AAE0-6EB1-67FB-3EAA56345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7" y="1304925"/>
            <a:ext cx="5550939" cy="3142085"/>
          </a:xfrm>
        </p:spPr>
        <p:txBody>
          <a:bodyPr>
            <a:normAutofit/>
          </a:bodyPr>
          <a:lstStyle/>
          <a:p>
            <a:r>
              <a:rPr lang="sv-SE" dirty="0"/>
              <a:t>VI har tolkat det som de fyra grundläggande operationerna som man kan göra på ett objekt (en resurs) i t.ex. ett system, en databas eller ett API:</a:t>
            </a:r>
          </a:p>
          <a:p>
            <a:r>
              <a:rPr lang="sv-SE" b="1" dirty="0"/>
              <a:t>CRUD =</a:t>
            </a:r>
            <a:endParaRPr lang="sv-SE" dirty="0"/>
          </a:p>
          <a:p>
            <a:pPr lvl="1"/>
            <a:r>
              <a:rPr lang="sv-SE" b="1" dirty="0"/>
              <a:t>C – </a:t>
            </a:r>
            <a:r>
              <a:rPr lang="sv-SE" b="1" dirty="0" err="1"/>
              <a:t>Create</a:t>
            </a:r>
            <a:r>
              <a:rPr lang="sv-SE" dirty="0"/>
              <a:t> → skapa en ny resurs</a:t>
            </a:r>
          </a:p>
          <a:p>
            <a:pPr lvl="1"/>
            <a:r>
              <a:rPr lang="sv-SE" b="1" dirty="0"/>
              <a:t>R – Read</a:t>
            </a:r>
            <a:r>
              <a:rPr lang="sv-SE" dirty="0"/>
              <a:t> → läsa eller hämta en befintlig resurs</a:t>
            </a:r>
          </a:p>
          <a:p>
            <a:pPr lvl="1"/>
            <a:r>
              <a:rPr lang="sv-SE" b="1" dirty="0"/>
              <a:t>U – </a:t>
            </a:r>
            <a:r>
              <a:rPr lang="sv-SE" b="1" dirty="0" err="1"/>
              <a:t>Update</a:t>
            </a:r>
            <a:r>
              <a:rPr lang="sv-SE" dirty="0"/>
              <a:t> → uppdatera en befintlig resurs</a:t>
            </a:r>
          </a:p>
          <a:p>
            <a:pPr lvl="1"/>
            <a:r>
              <a:rPr lang="sv-SE" b="1" dirty="0"/>
              <a:t>D – </a:t>
            </a:r>
            <a:r>
              <a:rPr lang="sv-SE" b="1" dirty="0" err="1"/>
              <a:t>Delete</a:t>
            </a:r>
            <a:r>
              <a:rPr lang="sv-SE" dirty="0"/>
              <a:t> → ta bort en resurs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7544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186B-08DA-9D6E-FDBD-94F6A927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95BECD-E7B7-8D74-1CFB-91AA8411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81" y="222628"/>
            <a:ext cx="7225415" cy="546765"/>
          </a:xfrm>
        </p:spPr>
        <p:txBody>
          <a:bodyPr/>
          <a:lstStyle/>
          <a:p>
            <a:pPr algn="ctr"/>
            <a:r>
              <a:rPr lang="sv-SE" sz="2800" dirty="0"/>
              <a:t>Systemlösning </a:t>
            </a:r>
          </a:p>
        </p:txBody>
      </p:sp>
      <p:pic>
        <p:nvPicPr>
          <p:cNvPr id="5" name="Bildobjekt 4" descr="En bild som visar text, dokument, skärmbild, Teckensnitt&#10;&#10;AI-genererat innehåll kan vara felaktigt.">
            <a:extLst>
              <a:ext uri="{FF2B5EF4-FFF2-40B4-BE49-F238E27FC236}">
                <a16:creationId xmlns:a16="http://schemas.microsoft.com/office/drawing/2014/main" id="{1581CAEA-20C7-8E3F-74AC-EC7426F42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974" y="73162"/>
            <a:ext cx="4610687" cy="6206695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7CBEA6B7-DCFB-DAAC-A396-5BC79C67826E}"/>
              </a:ext>
            </a:extLst>
          </p:cNvPr>
          <p:cNvSpPr txBox="1"/>
          <p:nvPr/>
        </p:nvSpPr>
        <p:spPr>
          <a:xfrm>
            <a:off x="282873" y="1201544"/>
            <a:ext cx="73480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Växtregister </a:t>
            </a:r>
            <a:r>
              <a:rPr lang="sv-SE" b="1" dirty="0" err="1"/>
              <a:t>App</a:t>
            </a:r>
            <a:endParaRPr lang="sv-SE" b="1" dirty="0"/>
          </a:p>
          <a:p>
            <a:pPr>
              <a:buNone/>
            </a:pPr>
            <a:endParaRPr lang="sv-SE" b="1" dirty="0"/>
          </a:p>
          <a:p>
            <a:pPr>
              <a:buNone/>
            </a:pPr>
            <a:r>
              <a:rPr lang="sv-SE" b="1" dirty="0"/>
              <a:t>Vad gör </a:t>
            </a:r>
            <a:r>
              <a:rPr lang="sv-SE" b="1" dirty="0" err="1"/>
              <a:t>appen</a:t>
            </a:r>
            <a:r>
              <a:rPr lang="sv-SE" b="1" dirty="0"/>
              <a:t>?</a:t>
            </a:r>
          </a:p>
          <a:p>
            <a:pPr>
              <a:buNone/>
            </a:pPr>
            <a:br>
              <a:rPr lang="sv-SE" dirty="0"/>
            </a:br>
            <a:r>
              <a:rPr lang="sv-SE" dirty="0" err="1"/>
              <a:t>Appen</a:t>
            </a:r>
            <a:r>
              <a:rPr lang="sv-SE" dirty="0"/>
              <a:t> är ett enkelt webbaserat växtregister där användaren kan hantera växtinformation.</a:t>
            </a:r>
          </a:p>
          <a:p>
            <a:pPr>
              <a:buNone/>
            </a:pPr>
            <a:br>
              <a:rPr lang="sv-SE" dirty="0"/>
            </a:br>
            <a:r>
              <a:rPr lang="sv-SE" dirty="0"/>
              <a:t>Den används för att lägga till, visa, redigera och ta bort växter i en lista.</a:t>
            </a:r>
          </a:p>
          <a:p>
            <a:pPr>
              <a:buNone/>
            </a:pPr>
            <a:endParaRPr lang="sv-SE" dirty="0"/>
          </a:p>
          <a:p>
            <a:pPr>
              <a:buNone/>
            </a:pPr>
            <a:r>
              <a:rPr lang="sv-SE" b="1" dirty="0"/>
              <a:t>Hur är </a:t>
            </a:r>
            <a:r>
              <a:rPr lang="sv-SE" b="1" dirty="0" err="1"/>
              <a:t>appen</a:t>
            </a:r>
            <a:r>
              <a:rPr lang="sv-SE" b="1" dirty="0"/>
              <a:t> designad?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Webbaserad klient–server-lösning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Tydlig uppdelning mellan </a:t>
            </a:r>
            <a:r>
              <a:rPr lang="sv-SE" dirty="0" err="1"/>
              <a:t>frontend</a:t>
            </a:r>
            <a:r>
              <a:rPr lang="sv-SE" dirty="0"/>
              <a:t> och </a:t>
            </a:r>
            <a:r>
              <a:rPr lang="sv-SE" dirty="0" err="1"/>
              <a:t>backend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Användarvänligt gränssnitt med formulär och </a:t>
            </a:r>
            <a:r>
              <a:rPr lang="sv-SE" dirty="0" err="1"/>
              <a:t>kortvy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Data skickas mellan </a:t>
            </a:r>
            <a:r>
              <a:rPr lang="sv-SE" dirty="0" err="1"/>
              <a:t>frontend</a:t>
            </a:r>
            <a:r>
              <a:rPr lang="sv-SE" dirty="0"/>
              <a:t> och </a:t>
            </a:r>
            <a:r>
              <a:rPr lang="sv-SE" dirty="0" err="1"/>
              <a:t>backend</a:t>
            </a:r>
            <a:r>
              <a:rPr lang="sv-SE" dirty="0"/>
              <a:t> i JSON-format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Persistens via databas (sparas även efter omstart)</a:t>
            </a:r>
          </a:p>
          <a:p>
            <a:endParaRPr lang="sv-SE" dirty="0"/>
          </a:p>
          <a:p>
            <a:pPr>
              <a:buNone/>
            </a:pPr>
            <a:r>
              <a:rPr lang="sv-SE" b="1" dirty="0"/>
              <a:t>Översikt:</a:t>
            </a:r>
            <a:br>
              <a:rPr lang="sv-SE" dirty="0"/>
            </a:br>
            <a:r>
              <a:rPr lang="sv-SE" dirty="0"/>
              <a:t>Användare ↔ Webbläsare (</a:t>
            </a:r>
            <a:r>
              <a:rPr lang="sv-SE" dirty="0" err="1"/>
              <a:t>frontend</a:t>
            </a:r>
            <a:r>
              <a:rPr lang="sv-SE" dirty="0"/>
              <a:t>) ↔ Server (</a:t>
            </a:r>
            <a:r>
              <a:rPr lang="sv-SE" dirty="0" err="1"/>
              <a:t>backend</a:t>
            </a:r>
            <a:r>
              <a:rPr lang="sv-SE" dirty="0"/>
              <a:t>) ↔ Databas</a:t>
            </a:r>
          </a:p>
        </p:txBody>
      </p:sp>
    </p:spTree>
    <p:extLst>
      <p:ext uri="{BB962C8B-B14F-4D97-AF65-F5344CB8AC3E}">
        <p14:creationId xmlns:p14="http://schemas.microsoft.com/office/powerpoint/2010/main" val="333564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FBD70C92-9455-A811-2836-0171686F5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009" y="249979"/>
            <a:ext cx="9333187" cy="845787"/>
          </a:xfrm>
        </p:spPr>
        <p:txBody>
          <a:bodyPr/>
          <a:lstStyle/>
          <a:p>
            <a:r>
              <a:rPr lang="en-US" sz="2800" dirty="0" err="1">
                <a:solidFill>
                  <a:schemeClr val="accent1"/>
                </a:solidFill>
                <a:ea typeface="+mj-ea"/>
              </a:rPr>
              <a:t>Tekniska</a:t>
            </a:r>
            <a:r>
              <a:rPr lang="en-US" sz="2800" b="1" cap="all" dirty="0"/>
              <a:t> </a:t>
            </a:r>
            <a:r>
              <a:rPr lang="en-US" sz="2800" dirty="0" err="1">
                <a:solidFill>
                  <a:schemeClr val="accent1"/>
                </a:solidFill>
                <a:ea typeface="+mj-ea"/>
              </a:rPr>
              <a:t>detaljer</a:t>
            </a:r>
            <a:endParaRPr lang="sv-SE" sz="2800" dirty="0">
              <a:solidFill>
                <a:schemeClr val="accent1"/>
              </a:solidFill>
              <a:ea typeface="+mj-ea"/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75E952BC-1252-E4A0-BA12-47A05917C544}"/>
              </a:ext>
            </a:extLst>
          </p:cNvPr>
          <p:cNvSpPr txBox="1"/>
          <p:nvPr/>
        </p:nvSpPr>
        <p:spPr>
          <a:xfrm>
            <a:off x="213803" y="1674674"/>
            <a:ext cx="32283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 err="1"/>
              <a:t>Frontend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Byggd med HTML, CSS och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index.html – struktur och formulär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script.js – logik och DOM-hantering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Använder </a:t>
            </a:r>
            <a:r>
              <a:rPr lang="sv-SE" dirty="0" err="1"/>
              <a:t>fetch</a:t>
            </a:r>
            <a:r>
              <a:rPr lang="sv-SE" dirty="0"/>
              <a:t>() för att kommunicera med </a:t>
            </a:r>
            <a:r>
              <a:rPr lang="sv-SE" dirty="0" err="1"/>
              <a:t>backend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Skickar och tar emot data i JSON-format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A723F12B-4A1C-539D-A3C9-D7505CCA8CB2}"/>
              </a:ext>
            </a:extLst>
          </p:cNvPr>
          <p:cNvSpPr txBox="1"/>
          <p:nvPr/>
        </p:nvSpPr>
        <p:spPr>
          <a:xfrm>
            <a:off x="3707483" y="1678430"/>
            <a:ext cx="25507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 err="1"/>
              <a:t>Backend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Byggd med Node.js och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server.js hanterar serverlogik och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REST-baserat API för växtresursen</a:t>
            </a:r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A26D0E07-169A-F60E-55BD-75DB7181575C}"/>
              </a:ext>
            </a:extLst>
          </p:cNvPr>
          <p:cNvSpPr txBox="1"/>
          <p:nvPr/>
        </p:nvSpPr>
        <p:spPr>
          <a:xfrm>
            <a:off x="6537847" y="1671852"/>
            <a:ext cx="2624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API-</a:t>
            </a:r>
            <a:r>
              <a:rPr lang="sv-SE" b="1" dirty="0" err="1"/>
              <a:t>endpoints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GET /plants – hämta alla växter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GET /plants/:id – hämta en specifik växt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POST /plants – skapa ny växt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PUT /plants – uppdatera växt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DELETE /plants/:id – ta bort växt</a:t>
            </a:r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21521D57-C588-A498-B549-EC3FEB27A542}"/>
              </a:ext>
            </a:extLst>
          </p:cNvPr>
          <p:cNvSpPr txBox="1"/>
          <p:nvPr/>
        </p:nvSpPr>
        <p:spPr>
          <a:xfrm>
            <a:off x="9442218" y="1671852"/>
            <a:ext cx="28446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Databas: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SQLite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Lokal databas: </a:t>
            </a:r>
            <a:r>
              <a:rPr lang="sv-SE" dirty="0" err="1"/>
              <a:t>plants.db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Lagrar växtposter permanent</a:t>
            </a:r>
          </a:p>
        </p:txBody>
      </p:sp>
    </p:spTree>
    <p:extLst>
      <p:ext uri="{BB962C8B-B14F-4D97-AF65-F5344CB8AC3E}">
        <p14:creationId xmlns:p14="http://schemas.microsoft.com/office/powerpoint/2010/main" val="239434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4962E-2409-BFFE-09D5-31E1547F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C9628471-52FE-43B4-3C62-7CB8A8DF29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009" y="249979"/>
            <a:ext cx="9333187" cy="845787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  <a:ea typeface="+mj-ea"/>
              </a:rPr>
              <a:t>CSS-</a:t>
            </a:r>
            <a:r>
              <a:rPr lang="en-US" sz="2800" dirty="0" err="1">
                <a:solidFill>
                  <a:schemeClr val="accent1"/>
                </a:solidFill>
                <a:ea typeface="+mj-ea"/>
              </a:rPr>
              <a:t>ramverk</a:t>
            </a:r>
            <a:endParaRPr lang="sv-SE" sz="2800" dirty="0">
              <a:solidFill>
                <a:schemeClr val="accent1"/>
              </a:solidFill>
              <a:ea typeface="+mj-ea"/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CA8972B2-FC27-3E59-E18A-F1178934787F}"/>
              </a:ext>
            </a:extLst>
          </p:cNvPr>
          <p:cNvSpPr txBox="1"/>
          <p:nvPr/>
        </p:nvSpPr>
        <p:spPr>
          <a:xfrm>
            <a:off x="267412" y="1272356"/>
            <a:ext cx="32283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 err="1"/>
              <a:t>Bootstrap</a:t>
            </a:r>
            <a:r>
              <a:rPr lang="sv-SE" sz="2400" b="1" dirty="0"/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 Grid-system​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 </a:t>
            </a:r>
            <a:r>
              <a:rPr lang="sv-SE" dirty="0" err="1"/>
              <a:t>Cards</a:t>
            </a:r>
            <a:r>
              <a:rPr lang="sv-SE" dirty="0"/>
              <a:t> och knappar​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 </a:t>
            </a:r>
            <a:r>
              <a:rPr lang="sv-SE" dirty="0" err="1"/>
              <a:t>Modaler</a:t>
            </a:r>
            <a:r>
              <a:rPr lang="sv-SE" dirty="0"/>
              <a:t> för feedback​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 </a:t>
            </a:r>
            <a:r>
              <a:rPr lang="sv-SE" dirty="0" err="1"/>
              <a:t>Responsiv</a:t>
            </a:r>
            <a:r>
              <a:rPr lang="sv-SE" dirty="0"/>
              <a:t> design</a:t>
            </a:r>
            <a:endParaRPr lang="en-US" dirty="0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F01BD247-F606-F176-819D-D33AF4ED41A1}"/>
              </a:ext>
            </a:extLst>
          </p:cNvPr>
          <p:cNvSpPr txBox="1"/>
          <p:nvPr/>
        </p:nvSpPr>
        <p:spPr>
          <a:xfrm>
            <a:off x="2820768" y="1313975"/>
            <a:ext cx="254064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 b="1" dirty="0"/>
              <a:t>Varför </a:t>
            </a:r>
            <a:r>
              <a:rPr lang="sv-SE" sz="2000" b="1" dirty="0" err="1"/>
              <a:t>Bootstrap</a:t>
            </a:r>
            <a:r>
              <a:rPr lang="sv-SE" sz="2000" b="1" dirty="0"/>
              <a:t>?</a:t>
            </a:r>
            <a:r>
              <a:rPr lang="sv-SE" b="1" dirty="0"/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Snabb utveckling​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Enkelt och tydligt​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Fungerar bra på mobil &amp; desktop</a:t>
            </a:r>
            <a:endParaRPr lang="en-US" dirty="0"/>
          </a:p>
        </p:txBody>
      </p:sp>
      <p:pic>
        <p:nvPicPr>
          <p:cNvPr id="3" name="Bildobjekt 2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24D9E931-8ECC-B95D-2F4A-1023EC65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6" y="3501834"/>
            <a:ext cx="7811590" cy="2667372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2B2D86A6-D701-0989-6F5D-7C4645641B0F}"/>
              </a:ext>
            </a:extLst>
          </p:cNvPr>
          <p:cNvSpPr txBox="1"/>
          <p:nvPr/>
        </p:nvSpPr>
        <p:spPr>
          <a:xfrm>
            <a:off x="5212602" y="1283137"/>
            <a:ext cx="3409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Egen CSS </a:t>
            </a:r>
            <a:r>
              <a:rPr lang="sv-SE" dirty="0"/>
              <a:t>kompletterar </a:t>
            </a:r>
            <a:r>
              <a:rPr lang="sv-SE" dirty="0" err="1"/>
              <a:t>Bootstrap</a:t>
            </a:r>
            <a:r>
              <a:rPr lang="sv-SE" dirty="0"/>
              <a:t> för: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Anpassat utseende och färger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Finjustering av layout och </a:t>
            </a:r>
            <a:r>
              <a:rPr lang="sv-SE" dirty="0" err="1"/>
              <a:t>spacing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Ökad kontroll över designen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App</a:t>
            </a:r>
            <a:r>
              <a:rPr lang="sv-SE" dirty="0"/>
              <a:t>-specifik styling</a:t>
            </a:r>
          </a:p>
        </p:txBody>
      </p:sp>
      <p:pic>
        <p:nvPicPr>
          <p:cNvPr id="8" name="Bildobjekt 7" descr="En bild som visar text, skärmbild&#10;&#10;AI-genererat innehåll kan vara felaktigt.">
            <a:extLst>
              <a:ext uri="{FF2B5EF4-FFF2-40B4-BE49-F238E27FC236}">
                <a16:creationId xmlns:a16="http://schemas.microsoft.com/office/drawing/2014/main" id="{954C530C-B64A-24FC-0791-531E8DC9A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499" y="-1"/>
            <a:ext cx="3597501" cy="634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0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98BF85B-9795-865B-EA48-810B2CF6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326" y="139773"/>
            <a:ext cx="5578618" cy="546765"/>
          </a:xfrm>
        </p:spPr>
        <p:txBody>
          <a:bodyPr anchor="b">
            <a:normAutofit/>
          </a:bodyPr>
          <a:lstStyle/>
          <a:p>
            <a:r>
              <a:rPr lang="sv-SE" sz="2800"/>
              <a:t>UI – Exempel &amp; Testfall</a:t>
            </a:r>
            <a:endParaRPr lang="sv-SE" sz="2800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5D16953-55C7-5BDC-ADD1-B53E20EBF6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5789" y="889298"/>
            <a:ext cx="4862129" cy="5268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b="1" dirty="0"/>
              <a:t>Exempel i </a:t>
            </a:r>
            <a:r>
              <a:rPr lang="sv-SE" b="1" dirty="0" err="1"/>
              <a:t>appen</a:t>
            </a:r>
            <a:r>
              <a:rPr lang="sv-SE" b="1" dirty="0"/>
              <a:t>:</a:t>
            </a:r>
            <a:endParaRPr lang="sv-SE" dirty="0"/>
          </a:p>
          <a:p>
            <a:r>
              <a:rPr lang="sv-SE" dirty="0" err="1"/>
              <a:t>Header</a:t>
            </a:r>
            <a:r>
              <a:rPr lang="sv-SE" dirty="0"/>
              <a:t> med titel och bakgrundsbild</a:t>
            </a:r>
          </a:p>
          <a:p>
            <a:r>
              <a:rPr lang="sv-SE" dirty="0"/>
              <a:t>Formulär för att lägga till/redigera växt</a:t>
            </a:r>
          </a:p>
          <a:p>
            <a:r>
              <a:rPr lang="sv-SE" dirty="0" err="1"/>
              <a:t>Växtkort</a:t>
            </a:r>
            <a:r>
              <a:rPr lang="sv-SE" dirty="0"/>
              <a:t> med namn, typ, vatten, höjd, färg</a:t>
            </a:r>
          </a:p>
          <a:p>
            <a:r>
              <a:rPr lang="sv-SE" dirty="0"/>
              <a:t>Knappar: Ändra / Ta bort</a:t>
            </a:r>
          </a:p>
          <a:p>
            <a:r>
              <a:rPr lang="sv-SE" dirty="0"/>
              <a:t>Modal för feedback</a:t>
            </a:r>
          </a:p>
          <a:p>
            <a:endParaRPr lang="sv-SE" dirty="0"/>
          </a:p>
          <a:p>
            <a:pPr marL="0" indent="0">
              <a:buNone/>
            </a:pPr>
            <a:r>
              <a:rPr lang="sv-SE" b="1" dirty="0"/>
              <a:t>Testfall när </a:t>
            </a:r>
            <a:r>
              <a:rPr lang="sv-SE" b="1" dirty="0" err="1"/>
              <a:t>appen</a:t>
            </a:r>
            <a:r>
              <a:rPr lang="sv-SE" b="1" dirty="0"/>
              <a:t> körs:</a:t>
            </a:r>
            <a:endParaRPr lang="sv-SE" dirty="0"/>
          </a:p>
          <a:p>
            <a:r>
              <a:rPr lang="sv-SE" dirty="0"/>
              <a:t>Formulär fungerar och validerar input</a:t>
            </a:r>
          </a:p>
          <a:p>
            <a:r>
              <a:rPr lang="sv-SE" dirty="0"/>
              <a:t>Kort uppdateras direkt vid ändring</a:t>
            </a:r>
          </a:p>
          <a:p>
            <a:r>
              <a:rPr lang="sv-SE" dirty="0"/>
              <a:t>Knappar utför rätt åtgärd</a:t>
            </a:r>
          </a:p>
          <a:p>
            <a:r>
              <a:rPr lang="sv-SE" dirty="0"/>
              <a:t>Modal visar bekräftelse</a:t>
            </a:r>
          </a:p>
          <a:p>
            <a:r>
              <a:rPr lang="sv-SE" dirty="0"/>
              <a:t>Layout fungerar på mobil, surfplatta och desktop</a:t>
            </a:r>
          </a:p>
          <a:p>
            <a:endParaRPr lang="sv-SE" dirty="0"/>
          </a:p>
        </p:txBody>
      </p:sp>
      <p:pic>
        <p:nvPicPr>
          <p:cNvPr id="8" name="Bildobjekt 7" descr="En bild som visar text, skärmbild, programvara, Multimedieprogram&#10;&#10;AI-genererat innehåll kan vara felaktigt.">
            <a:extLst>
              <a:ext uri="{FF2B5EF4-FFF2-40B4-BE49-F238E27FC236}">
                <a16:creationId xmlns:a16="http://schemas.microsoft.com/office/drawing/2014/main" id="{99732393-1CA0-3B58-C8E7-865DCD74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919" y="1"/>
            <a:ext cx="6924082" cy="6354750"/>
          </a:xfrm>
          <a:prstGeom prst="rect">
            <a:avLst/>
          </a:prstGeom>
        </p:spPr>
      </p:pic>
      <p:sp>
        <p:nvSpPr>
          <p:cNvPr id="9" name="Pil: nedåt 8">
            <a:extLst>
              <a:ext uri="{FF2B5EF4-FFF2-40B4-BE49-F238E27FC236}">
                <a16:creationId xmlns:a16="http://schemas.microsoft.com/office/drawing/2014/main" id="{6AAFB791-E3D1-8CC8-8179-43A8A9AEACF4}"/>
              </a:ext>
            </a:extLst>
          </p:cNvPr>
          <p:cNvSpPr/>
          <p:nvPr/>
        </p:nvSpPr>
        <p:spPr>
          <a:xfrm>
            <a:off x="10453104" y="4315442"/>
            <a:ext cx="223666" cy="322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1" name="Koppling: vinklad 10">
            <a:extLst>
              <a:ext uri="{FF2B5EF4-FFF2-40B4-BE49-F238E27FC236}">
                <a16:creationId xmlns:a16="http://schemas.microsoft.com/office/drawing/2014/main" id="{9B5BE05C-C3CA-7AEB-2B4F-535593D816E3}"/>
              </a:ext>
            </a:extLst>
          </p:cNvPr>
          <p:cNvCxnSpPr/>
          <p:nvPr/>
        </p:nvCxnSpPr>
        <p:spPr>
          <a:xfrm rot="16200000" flipV="1">
            <a:off x="6476456" y="4095064"/>
            <a:ext cx="2947131" cy="62494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48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141B64-403F-47A0-1CF6-EF1E2564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12" y="1089025"/>
            <a:ext cx="6724732" cy="1139735"/>
          </a:xfrm>
        </p:spPr>
        <p:txBody>
          <a:bodyPr/>
          <a:lstStyle/>
          <a:p>
            <a:r>
              <a:rPr lang="en-US" cap="all" err="1"/>
              <a:t>Reflektion</a:t>
            </a:r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C09A942-8644-842F-908F-0D6A6EAD7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6" y="2228760"/>
            <a:ext cx="4529232" cy="3744919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err="1"/>
              <a:t>Roligt</a:t>
            </a:r>
            <a:r>
              <a:rPr lang="en-US"/>
              <a:t>​</a:t>
            </a:r>
          </a:p>
          <a:p>
            <a:pPr marL="0" indent="0" fontAlgn="base">
              <a:buNone/>
            </a:pPr>
            <a:r>
              <a:rPr lang="en-US"/>
              <a:t>• Se frontend och backend </a:t>
            </a:r>
            <a:r>
              <a:rPr lang="en-US" err="1"/>
              <a:t>fungera</a:t>
            </a:r>
            <a:r>
              <a:rPr lang="en-US"/>
              <a:t> </a:t>
            </a:r>
            <a:r>
              <a:rPr lang="en-US" err="1"/>
              <a:t>ihop</a:t>
            </a:r>
            <a:r>
              <a:rPr lang="en-US"/>
              <a:t>​</a:t>
            </a:r>
            <a:br>
              <a:rPr lang="en-US"/>
            </a:br>
            <a:r>
              <a:rPr lang="en-US"/>
              <a:t>• </a:t>
            </a:r>
            <a:r>
              <a:rPr lang="en-US" err="1"/>
              <a:t>Jobba</a:t>
            </a:r>
            <a:r>
              <a:rPr lang="en-US"/>
              <a:t> med </a:t>
            </a:r>
            <a:r>
              <a:rPr lang="en-US" err="1"/>
              <a:t>riktig</a:t>
            </a:r>
            <a:r>
              <a:rPr lang="en-US"/>
              <a:t> CRUD</a:t>
            </a:r>
          </a:p>
          <a:p>
            <a:endParaRPr lang="sv-SE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686289B9-D4C8-5DD3-3236-659EBAF67AC7}"/>
              </a:ext>
            </a:extLst>
          </p:cNvPr>
          <p:cNvSpPr txBox="1">
            <a:spLocks/>
          </p:cNvSpPr>
          <p:nvPr/>
        </p:nvSpPr>
        <p:spPr>
          <a:xfrm>
            <a:off x="5922201" y="2228759"/>
            <a:ext cx="4529232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b="1" err="1"/>
              <a:t>Utmaningar</a:t>
            </a:r>
            <a:r>
              <a:rPr lang="en-US"/>
              <a:t>​</a:t>
            </a:r>
          </a:p>
          <a:p>
            <a:pPr marL="0" indent="0" fontAlgn="base">
              <a:buNone/>
            </a:pPr>
            <a:r>
              <a:rPr lang="en-US"/>
              <a:t>• Fetch och API-</a:t>
            </a:r>
            <a:r>
              <a:rPr lang="en-US" err="1"/>
              <a:t>anrop</a:t>
            </a:r>
            <a:r>
              <a:rPr lang="en-US"/>
              <a:t>​</a:t>
            </a:r>
            <a:br>
              <a:rPr lang="en-US"/>
            </a:br>
            <a:r>
              <a:rPr lang="en-US"/>
              <a:t>• </a:t>
            </a:r>
            <a:r>
              <a:rPr lang="en-US" err="1"/>
              <a:t>Uppdatera</a:t>
            </a:r>
            <a:r>
              <a:rPr lang="en-US"/>
              <a:t> och ta bort </a:t>
            </a:r>
            <a:r>
              <a:rPr lang="en-US" err="1"/>
              <a:t>rätt</a:t>
            </a:r>
            <a:r>
              <a:rPr lang="en-US"/>
              <a:t> data</a:t>
            </a:r>
          </a:p>
          <a:p>
            <a:endParaRPr lang="sv-SE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1DBD6B6E-C69D-3DB2-0AFA-D8C9C2205F8C}"/>
              </a:ext>
            </a:extLst>
          </p:cNvPr>
          <p:cNvSpPr txBox="1">
            <a:spLocks/>
          </p:cNvSpPr>
          <p:nvPr/>
        </p:nvSpPr>
        <p:spPr>
          <a:xfrm>
            <a:off x="1239238" y="3896515"/>
            <a:ext cx="4529232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b="1" err="1"/>
              <a:t>Lärdomar</a:t>
            </a:r>
            <a:r>
              <a:rPr lang="en-US"/>
              <a:t>​</a:t>
            </a:r>
          </a:p>
          <a:p>
            <a:pPr marL="0" indent="0" fontAlgn="base">
              <a:buNone/>
            </a:pPr>
            <a:r>
              <a:rPr lang="en-US"/>
              <a:t>• REST API​</a:t>
            </a:r>
            <a:br>
              <a:rPr lang="en-US"/>
            </a:br>
            <a:r>
              <a:rPr lang="en-US"/>
              <a:t>• </a:t>
            </a:r>
            <a:r>
              <a:rPr lang="en-US" err="1"/>
              <a:t>Databas</a:t>
            </a:r>
            <a:r>
              <a:rPr lang="en-US"/>
              <a:t> + server + </a:t>
            </a:r>
            <a:r>
              <a:rPr lang="en-US" err="1"/>
              <a:t>klient</a:t>
            </a:r>
            <a:r>
              <a:rPr lang="en-US"/>
              <a:t>​</a:t>
            </a:r>
            <a:br>
              <a:rPr lang="en-US"/>
            </a:br>
            <a:r>
              <a:rPr lang="en-US"/>
              <a:t>• </a:t>
            </a:r>
            <a:r>
              <a:rPr lang="en-US" err="1"/>
              <a:t>Struktur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ett</a:t>
            </a:r>
            <a:r>
              <a:rPr lang="en-US"/>
              <a:t> </a:t>
            </a:r>
            <a:r>
              <a:rPr lang="en-US" err="1"/>
              <a:t>webbprojekt</a:t>
            </a:r>
            <a:endParaRPr lang="en-US"/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8060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ruta 8">
            <a:extLst>
              <a:ext uri="{FF2B5EF4-FFF2-40B4-BE49-F238E27FC236}">
                <a16:creationId xmlns:a16="http://schemas.microsoft.com/office/drawing/2014/main" id="{B1EDDE36-FDA0-7B74-BEE6-3E05E8BA0FDE}"/>
              </a:ext>
            </a:extLst>
          </p:cNvPr>
          <p:cNvSpPr txBox="1"/>
          <p:nvPr/>
        </p:nvSpPr>
        <p:spPr>
          <a:xfrm>
            <a:off x="850232" y="4716379"/>
            <a:ext cx="8293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Tack för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att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ni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lyssnade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!</a:t>
            </a:r>
            <a:endParaRPr lang="sv-SE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235363"/>
      </p:ext>
    </p:extLst>
  </p:cSld>
  <p:clrMapOvr>
    <a:masterClrMapping/>
  </p:clrMapOvr>
</p:sld>
</file>

<file path=ppt/theme/theme1.xml><?xml version="1.0" encoding="utf-8"?>
<a:theme xmlns:a="http://schemas.openxmlformats.org/drawingml/2006/main" name="HDa Innehåll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0071C2"/>
      </a:accent3>
      <a:accent4>
        <a:srgbClr val="007B3C"/>
      </a:accent4>
      <a:accent5>
        <a:srgbClr val="FFDD00"/>
      </a:accent5>
      <a:accent6>
        <a:srgbClr val="E4003A"/>
      </a:accent6>
      <a:hlink>
        <a:srgbClr val="0071C2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2A717E8-440E-4724-A862-65978A9932E3}" vid="{4B32232E-A5F9-4437-9ACB-BFAFF62F5322}"/>
    </a:ext>
  </a:extLst>
</a:theme>
</file>

<file path=ppt/theme/theme2.xml><?xml version="1.0" encoding="utf-8"?>
<a:theme xmlns:a="http://schemas.openxmlformats.org/drawingml/2006/main" name="HDa Start och Avslut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0071C2"/>
      </a:accent3>
      <a:accent4>
        <a:srgbClr val="007B3C"/>
      </a:accent4>
      <a:accent5>
        <a:srgbClr val="FFDD00"/>
      </a:accent5>
      <a:accent6>
        <a:srgbClr val="E4003A"/>
      </a:accent6>
      <a:hlink>
        <a:srgbClr val="0071C2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2A717E8-440E-4724-A862-65978A9932E3}" vid="{AAC1FD1F-B82B-4C0E-956D-DD8C5F601E44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-tema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A5A5A5"/>
      </a:accent3>
      <a:accent4>
        <a:srgbClr val="EC6607"/>
      </a:accent4>
      <a:accent5>
        <a:srgbClr val="007B3C"/>
      </a:accent5>
      <a:accent6>
        <a:srgbClr val="E4003A"/>
      </a:accent6>
      <a:hlink>
        <a:srgbClr val="0563C1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A5A5A5"/>
      </a:accent3>
      <a:accent4>
        <a:srgbClr val="EC6607"/>
      </a:accent4>
      <a:accent5>
        <a:srgbClr val="007B3C"/>
      </a:accent5>
      <a:accent6>
        <a:srgbClr val="E4003A"/>
      </a:accent6>
      <a:hlink>
        <a:srgbClr val="0563C1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0269B5D0BB84382A84BE8E1E40650" ma:contentTypeVersion="22" ma:contentTypeDescription="Create a new document." ma:contentTypeScope="" ma:versionID="daf369756ef5375cc1980ebde4e3541a">
  <xsd:schema xmlns:xsd="http://www.w3.org/2001/XMLSchema" xmlns:xs="http://www.w3.org/2001/XMLSchema" xmlns:p="http://schemas.microsoft.com/office/2006/metadata/properties" xmlns:ns2="86d88fb5-0b4d-4df7-8ca1-8010dc5f6b71" xmlns:ns3="77cbf028-fa62-42e0-a7a7-1b4aa357e9da" targetNamespace="http://schemas.microsoft.com/office/2006/metadata/properties" ma:root="true" ma:fieldsID="7ceb785885e6032c2337498e3c36f3a2" ns2:_="" ns3:_="">
    <xsd:import namespace="86d88fb5-0b4d-4df7-8ca1-8010dc5f6b71"/>
    <xsd:import namespace="77cbf028-fa62-42e0-a7a7-1b4aa357e9da"/>
    <xsd:element name="properties">
      <xsd:complexType>
        <xsd:sequence>
          <xsd:element name="documentManagement">
            <xsd:complexType>
              <xsd:all>
                <xsd:element ref="ns2:Mallbeskrivning" minOccurs="0"/>
                <xsd:element ref="ns3:TaxCatchAll" minOccurs="0"/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l53a85ad7d6446daa7808431c76cfbe8" minOccurs="0"/>
                <xsd:element ref="ns3:h1e91efc8b7d4945930b1237cc983848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d88fb5-0b4d-4df7-8ca1-8010dc5f6b71" elementFormDefault="qualified">
    <xsd:import namespace="http://schemas.microsoft.com/office/2006/documentManagement/types"/>
    <xsd:import namespace="http://schemas.microsoft.com/office/infopath/2007/PartnerControls"/>
    <xsd:element name="Mallbeskrivning" ma:index="2" nillable="true" ma:displayName="Mallbeskrivning" ma:internalName="Mallbeskrivning">
      <xsd:simpleType>
        <xsd:restriction base="dms:Note">
          <xsd:maxLength value="255"/>
        </xsd:restriction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8987a6-c1bb-4d45-96f2-f973512b71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bf028-fa62-42e0-a7a7-1b4aa357e9da" elementFormDefault="qualified">
    <xsd:import namespace="http://schemas.microsoft.com/office/2006/documentManagement/types"/>
    <xsd:import namespace="http://schemas.microsoft.com/office/infopath/2007/PartnerControls"/>
    <xsd:element name="TaxCatchAll" ma:index="5" nillable="true" ma:displayName="Taxonomy Catch All Column" ma:hidden="true" ma:list="{3f978178-47ef-4ded-9db5-41427222db61}" ma:internalName="TaxCatchAll" ma:showField="CatchAllData" ma:web="77cbf028-fa62-42e0-a7a7-1b4aa357e9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53a85ad7d6446daa7808431c76cfbe8" ma:index="19" nillable="true" ma:taxonomy="true" ma:internalName="l53a85ad7d6446daa7808431c76cfbe8" ma:taxonomyFieldName="Ansvarig_x0020_avdelning" ma:displayName="Ansvarig avdelning" ma:default="" ma:fieldId="{553a85ad-7d64-46da-a780-8431c76cfbe8}" ma:sspId="2e8987a6-c1bb-4d45-96f2-f973512b71dc" ma:termSetId="227dafc0-49dd-4664-9242-e1a003417ac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1e91efc8b7d4945930b1237cc983848" ma:index="21" nillable="true" ma:taxonomy="true" ma:internalName="h1e91efc8b7d4945930b1237cc983848" ma:taxonomyFieldName="Dokumenttyp0" ma:displayName="Dokumenttyp" ma:default="" ma:fieldId="{11e91efc-8b7d-4945-930b-1237cc983848}" ma:sspId="2e8987a6-c1bb-4d45-96f2-f973512b71dc" ma:termSetId="5af78825-a386-4dfb-bc4b-2d98dcef38c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llbeskrivning xmlns="86d88fb5-0b4d-4df7-8ca1-8010dc5f6b71" xsi:nil="true"/>
    <TaxCatchAll xmlns="77cbf028-fa62-42e0-a7a7-1b4aa357e9da">
      <Value>20</Value>
      <Value>15</Value>
    </TaxCatchAll>
    <h1e91efc8b7d4945930b1237cc983848 xmlns="77cbf028-fa62-42e0-a7a7-1b4aa357e9da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a202e5b9-63bf-414e-80ec-98d7359f7f4b</TermId>
        </TermInfo>
      </Terms>
    </h1e91efc8b7d4945930b1237cc983848>
    <lcf76f155ced4ddcb4097134ff3c332f xmlns="86d88fb5-0b4d-4df7-8ca1-8010dc5f6b71">
      <Terms xmlns="http://schemas.microsoft.com/office/infopath/2007/PartnerControls"/>
    </lcf76f155ced4ddcb4097134ff3c332f>
    <l53a85ad7d6446daa7808431c76cfbe8 xmlns="77cbf028-fa62-42e0-a7a7-1b4aa357e9da">
      <Terms xmlns="http://schemas.microsoft.com/office/infopath/2007/PartnerControls">
        <TermInfo xmlns="http://schemas.microsoft.com/office/infopath/2007/PartnerControls">
          <TermName xmlns="http://schemas.microsoft.com/office/infopath/2007/PartnerControls">Avdelningen för kommunikation</TermName>
          <TermId xmlns="http://schemas.microsoft.com/office/infopath/2007/PartnerControls">532e2d91-4a14-49ff-be6c-bc5dbfb65adf</TermId>
        </TermInfo>
      </Terms>
    </l53a85ad7d6446daa7808431c76cfbe8>
  </documentManagement>
</p:properties>
</file>

<file path=customXml/itemProps1.xml><?xml version="1.0" encoding="utf-8"?>
<ds:datastoreItem xmlns:ds="http://schemas.openxmlformats.org/officeDocument/2006/customXml" ds:itemID="{61935882-F91E-42B0-B469-BB0995A6E7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8DDD77-4E93-4E1E-8DC5-9282F1FC9D51}">
  <ds:schemaRefs>
    <ds:schemaRef ds:uri="77cbf028-fa62-42e0-a7a7-1b4aa357e9da"/>
    <ds:schemaRef ds:uri="86d88fb5-0b4d-4df7-8ca1-8010dc5f6b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12D53D-0541-481F-B590-944BD46D5A35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77cbf028-fa62-42e0-a7a7-1b4aa357e9da"/>
    <ds:schemaRef ds:uri="http://purl.org/dc/terms/"/>
    <ds:schemaRef ds:uri="http://purl.org/dc/elements/1.1/"/>
    <ds:schemaRef ds:uri="http://schemas.microsoft.com/office/2006/metadata/properties"/>
    <ds:schemaRef ds:uri="86d88fb5-0b4d-4df7-8ca1-8010dc5f6b71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Mall för Powerpoint-presentation i standardformat</Template>
  <TotalTime>0</TotalTime>
  <Words>968</Words>
  <Application>Microsoft Office PowerPoint</Application>
  <PresentationFormat>Bredbild</PresentationFormat>
  <Paragraphs>135</Paragraphs>
  <Slides>9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3</vt:i4>
      </vt:variant>
      <vt:variant>
        <vt:lpstr>Bildrubriker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Univers Condensed</vt:lpstr>
      <vt:lpstr>HDa Innehåll</vt:lpstr>
      <vt:lpstr>HDa Start och Avslut</vt:lpstr>
      <vt:lpstr>Office-tema</vt:lpstr>
      <vt:lpstr> Dynamiska Webbapplikationer                     GIK339</vt:lpstr>
      <vt:lpstr>Projektbeskrivning </vt:lpstr>
      <vt:lpstr>Tolkning av CRUD med en resurs </vt:lpstr>
      <vt:lpstr>Systemlösning </vt:lpstr>
      <vt:lpstr>PowerPoint-presentation</vt:lpstr>
      <vt:lpstr>PowerPoint-presentation</vt:lpstr>
      <vt:lpstr>UI – Exempel &amp; Testfall</vt:lpstr>
      <vt:lpstr>Reflektion</vt:lpstr>
      <vt:lpstr>PowerPoint-presentation</vt:lpstr>
    </vt:vector>
  </TitlesOfParts>
  <Company>Ludvika Kommun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Hangama Dehati (Student)</dc:creator>
  <cp:lastModifiedBy>Samir Ahmad (Student)</cp:lastModifiedBy>
  <cp:revision>2</cp:revision>
  <cp:lastPrinted>2017-03-10T09:07:23Z</cp:lastPrinted>
  <dcterms:created xsi:type="dcterms:W3CDTF">2026-01-11T13:33:27Z</dcterms:created>
  <dcterms:modified xsi:type="dcterms:W3CDTF">2026-01-13T13:11:50Z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0x0101002040269B5D0BB84382A84BE8E1E40650</vt:lpwstr>
  </property>
  <property fmtid="{D5CDD505-2E9C-101B-9397-08002B2CF9AE}" pid="3" name="TaxKeyword">
    <vt:lpwstr/>
  </property>
  <property fmtid="{D5CDD505-2E9C-101B-9397-08002B2CF9AE}" pid="4" name="Avdelning">
    <vt:lpwstr>2;#Kommunikationsavdelningen|40208715-28ac-40ac-8185-8faf1f647166</vt:lpwstr>
  </property>
  <property fmtid="{D5CDD505-2E9C-101B-9397-08002B2CF9AE}" pid="5" name="BeHDa_Dokumenttyp_Tax">
    <vt:lpwstr>22;#Presentation|a202e5b9-63bf-414e-80ec-98d7359f7f4b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TemplateUrl">
    <vt:lpwstr/>
  </property>
  <property fmtid="{D5CDD505-2E9C-101B-9397-08002B2CF9AE}" pid="11" name="ComplianceAssetId">
    <vt:lpwstr/>
  </property>
  <property fmtid="{D5CDD505-2E9C-101B-9397-08002B2CF9AE}" pid="12" name="Dokumenttyp0">
    <vt:lpwstr>15;#Presentation|a202e5b9-63bf-414e-80ec-98d7359f7f4b</vt:lpwstr>
  </property>
  <property fmtid="{D5CDD505-2E9C-101B-9397-08002B2CF9AE}" pid="13" name="MediaServiceImageTags">
    <vt:lpwstr/>
  </property>
  <property fmtid="{D5CDD505-2E9C-101B-9397-08002B2CF9AE}" pid="14" name="Ansvarig_x0020_avdelning">
    <vt:lpwstr/>
  </property>
  <property fmtid="{D5CDD505-2E9C-101B-9397-08002B2CF9AE}" pid="15" name="Ansvarig avdelning">
    <vt:lpwstr>20;#Avdelningen för kommunikation|532e2d91-4a14-49ff-be6c-bc5dbfb65adf</vt:lpwstr>
  </property>
  <property fmtid="{D5CDD505-2E9C-101B-9397-08002B2CF9AE}" pid="16" name="j71aac9071894282af56d2a56ca631f1">
    <vt:lpwstr>Kommunikationsavdelningen|40208715-28ac-40ac-8185-8faf1f647166</vt:lpwstr>
  </property>
</Properties>
</file>